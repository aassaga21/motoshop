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0D1B35"/>
          </a:solidFill>
          <a:ln>
            <a:solidFill>
              <a:srgbClr val="0D1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30861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0" y="164592"/>
            <a:ext cx="502920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77840" y="8229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1F5F9"/>
                </a:solidFill>
              </a:rPr>
              <a:t>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3B82F6"/>
                </a:solidFill>
              </a:rPr>
              <a:t>MotoShop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</a:rPr>
              <a:t>Plateforme e-commerce déployée sur Kubernetes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703320"/>
            <a:ext cx="1371600" cy="292608"/>
          </a:xfrm>
          <a:prstGeom prst="rect">
            <a:avLst/>
          </a:prstGeom>
          <a:solidFill>
            <a:srgbClr val="0B1A3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🐳  Docker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3703320"/>
            <a:ext cx="1371600" cy="292608"/>
          </a:xfrm>
          <a:prstGeom prst="rect">
            <a:avLst/>
          </a:prstGeom>
          <a:solidFill>
            <a:srgbClr val="0124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☸  Kubernetes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8656" y="3703320"/>
            <a:ext cx="1371600" cy="292608"/>
          </a:xfrm>
          <a:prstGeom prst="rect">
            <a:avLst/>
          </a:prstGeom>
          <a:solidFill>
            <a:srgbClr val="1B12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48656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⚛  React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9984" y="3703320"/>
            <a:ext cx="1371600" cy="292608"/>
          </a:xfrm>
          <a:prstGeom prst="rect">
            <a:avLst/>
          </a:prstGeom>
          <a:solidFill>
            <a:srgbClr val="0325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9984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🐍  Flask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2" y="3703320"/>
            <a:ext cx="1371600" cy="292608"/>
          </a:xfrm>
          <a:prstGeom prst="rect">
            <a:avLst/>
          </a:prstGeom>
          <a:solidFill>
            <a:srgbClr val="311F0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🍃  MongoDB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434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</a:rPr>
              <a:t>Projet DevOps  —  BTS / BUT / Licence Informatique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091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Alexandra Assaga  ·  Juin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6656832"/>
            <a:ext cx="5029200" cy="4572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👥  Présentation de l'équipe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30352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4846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1F5F9"/>
                </a:solidFill>
              </a:rPr>
              <a:t>👩‍💻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14300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1F5F9"/>
                </a:solidFill>
              </a:rPr>
              <a:t>Alexandra Assaga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002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</a:rPr>
              <a:t>Lead DevOps &amp; Full-Stack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Responsabilités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41448"/>
            <a:ext cx="1097280" cy="2743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14600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Architecture Kubernetes &amp;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620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862072"/>
            <a:ext cx="44988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1F5F9"/>
                </a:solidFill>
              </a:rPr>
              <a:t>Développement Backend — Flask / 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95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209544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Développement Frontend — React / 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570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557016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Pipeline CI/CD &amp; scripts d'automatisation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0448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904488"/>
            <a:ext cx="4498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1F5F9"/>
                </a:solidFill>
              </a:rPr>
              <a:t>Documentation et déploiement GitHub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960120"/>
            <a:ext cx="585216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89320" y="960120"/>
            <a:ext cx="54864" cy="283464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0972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Répartition des tâches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89888"/>
            <a:ext cx="1097280" cy="2743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1508760"/>
            <a:ext cx="1554480" cy="347472"/>
          </a:xfrm>
          <a:prstGeom prst="rect">
            <a:avLst/>
          </a:prstGeom>
          <a:solidFill>
            <a:srgbClr val="1A23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44768" y="155448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15544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API Flask + MongoDB + Routes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929384"/>
            <a:ext cx="1554480" cy="347472"/>
          </a:xfrm>
          <a:prstGeom prst="rect">
            <a:avLst/>
          </a:prstGeom>
          <a:solidFill>
            <a:srgbClr val="1A23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44768" y="1975104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19751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React SPA + Nginx + Pages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350008"/>
            <a:ext cx="1554480" cy="347472"/>
          </a:xfrm>
          <a:prstGeom prst="rect">
            <a:avLst/>
          </a:prstGeom>
          <a:solidFill>
            <a:srgbClr val="1A23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44768" y="2395728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39572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Dockerfiles + Images Hub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770632"/>
            <a:ext cx="1554480" cy="347472"/>
          </a:xfrm>
          <a:prstGeom prst="rect">
            <a:avLst/>
          </a:prstGeom>
          <a:solidFill>
            <a:srgbClr val="1A23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44768" y="281635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Kubernetes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281635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9 Manifests YAML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191256"/>
            <a:ext cx="1554480" cy="347472"/>
          </a:xfrm>
          <a:prstGeom prst="rect">
            <a:avLst/>
          </a:prstGeom>
          <a:solidFill>
            <a:srgbClr val="1A233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44768" y="3236976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CI/CD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323697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Hook git + deploy.ps1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977639"/>
            <a:ext cx="58521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989320" y="3977639"/>
            <a:ext cx="54864" cy="14173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0" y="4114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🔗  Dépôt GitHub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526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github.com/aassaga21/MotoShop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873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hub.docker.com/u/alexandraassaga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🎯  Contexte &amp; Objectifs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9476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4114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🎯 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50876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F1F5F9"/>
                </a:solidFill>
              </a:rPr>
              <a:t>Déployer</a:t>
            </a:r>
            <a:r>
              <a:rPr sz="1300" b="0" i="0" dirty="0">
                <a:solidFill>
                  <a:srgbClr val="F1F5F9"/>
                </a:solidFill>
              </a:rPr>
              <a:t> </a:t>
            </a:r>
            <a:r>
              <a:rPr sz="1300" b="0" i="0" dirty="0" err="1">
                <a:solidFill>
                  <a:srgbClr val="F1F5F9"/>
                </a:solidFill>
              </a:rPr>
              <a:t>une</a:t>
            </a:r>
            <a:r>
              <a:rPr sz="1300" b="0" i="0" dirty="0">
                <a:solidFill>
                  <a:srgbClr val="F1F5F9"/>
                </a:solidFill>
              </a:rPr>
              <a:t> app e-commerce </a:t>
            </a:r>
            <a:r>
              <a:rPr sz="1300" b="0" i="0" dirty="0" err="1">
                <a:solidFill>
                  <a:srgbClr val="F1F5F9"/>
                </a:solidFill>
              </a:rPr>
              <a:t>complète</a:t>
            </a:r>
            <a:endParaRPr sz="1300" b="0" i="0" dirty="0">
              <a:solidFill>
                <a:srgbClr val="F1F5F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185623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Garantir la persistance des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20370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Reproductibilité du déploiement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55117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Automatiser les mises à jour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960120"/>
            <a:ext cx="379476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61688" y="960120"/>
            <a:ext cx="54864" cy="41148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🛒  Objectifs fonctionnels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150876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Catalogue de 12 motos avec filtres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185623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Fiche produit détaillée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220370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Panier &amp; formulaire de commande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255117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Page Contact (messages MongoDB)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8986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289864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Dashboard Admin (commandes/clients)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03336" y="960120"/>
            <a:ext cx="379476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403336" y="960120"/>
            <a:ext cx="54864" cy="4114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67928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⚙️  Objectifs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150876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Conteneurisation avec 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185623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Orchestration avec Kubernetes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20370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Persistance via PVC / PV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7928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255117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Gestion des secrets K8s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7928" y="28986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289864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Pipeline CI/CD automatisé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30368"/>
            <a:ext cx="2697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5276088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581558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MOTOS CATALOGUE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5230368"/>
            <a:ext cx="2697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54680" y="5276088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B5CF6"/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581558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PODS KUBERNETES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5230368"/>
            <a:ext cx="2697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89320" y="5276088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81558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ROUTES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5230368"/>
            <a:ext cx="26974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23960" y="5276088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5815584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PAGES REACT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🌐  Architecture Globale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914400"/>
            <a:ext cx="3931920" cy="685800"/>
          </a:xfrm>
          <a:prstGeom prst="rect">
            <a:avLst/>
          </a:prstGeom>
          <a:solidFill>
            <a:srgbClr val="16181B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9875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</a:rPr>
              <a:t>👤  Navigateur utilisateur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25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http://localhost:30080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6824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NodePort 30080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1247120" cy="1005840"/>
          </a:xfrm>
          <a:prstGeom prst="rect">
            <a:avLst/>
          </a:prstGeom>
          <a:solidFill>
            <a:srgbClr val="0A1A33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POD 1  —  Frontend  (Namespace: ecommerce)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286000"/>
            <a:ext cx="7589520" cy="685800"/>
          </a:xfrm>
          <a:prstGeom prst="rect">
            <a:avLst/>
          </a:prstGeom>
          <a:solidFill>
            <a:srgbClr val="081324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235915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🌐  Nginx + React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974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Build statique Vite  ·  Port 80  ·  Proxy /api/ → backend-service:5000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108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1455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ClusterIP  ·  backend-service:5000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11247120" cy="1234440"/>
          </a:xfrm>
          <a:prstGeom prst="rect">
            <a:avLst/>
          </a:prstGeom>
          <a:solidFill>
            <a:srgbClr val="051A1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POD 2  —  Backend + Base de données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749039"/>
            <a:ext cx="3840480" cy="822960"/>
          </a:xfrm>
          <a:prstGeom prst="rect">
            <a:avLst/>
          </a:prstGeom>
          <a:solidFill>
            <a:srgbClr val="140D2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382219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</a:rPr>
              <a:t>🐍  Flask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6051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5000  ·  Python 3.12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⟺  localhost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749039"/>
            <a:ext cx="3840480" cy="822960"/>
          </a:xfrm>
          <a:prstGeom prst="rect">
            <a:avLst/>
          </a:prstGeom>
          <a:solidFill>
            <a:srgbClr val="021B13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382219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🍃  MongoDB 7.0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16051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27017  ·  PVC /data/db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892040"/>
            <a:ext cx="3383280" cy="685800"/>
          </a:xfrm>
          <a:prstGeom prst="rect">
            <a:avLst/>
          </a:prstGeom>
          <a:solidFill>
            <a:srgbClr val="1215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" y="49377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🔐  Secret K8s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2120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mongouser / MongoPass2024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4892040"/>
            <a:ext cx="3383280" cy="685800"/>
          </a:xfrm>
          <a:prstGeom prst="rect">
            <a:avLst/>
          </a:prstGeom>
          <a:solidFill>
            <a:srgbClr val="12151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81728" y="49377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⚙  ConfigMap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52120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MONGO_HOST · DB_NAME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892040"/>
            <a:ext cx="3383280" cy="685800"/>
          </a:xfrm>
          <a:prstGeom prst="rect">
            <a:avLst/>
          </a:prstGeom>
          <a:solidFill>
            <a:srgbClr val="1215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39328" y="49377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💾  PV / PVC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52120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1Gi · RWO · /data/db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🐳  Architecture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4864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2377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🌐  Image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alexandraassaga/moto-frontend:latest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755648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Base : node:20-alpine  →  nginx:alpine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03120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Build : npm run build  (Vite — multi-stage)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505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50592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Contient : SPA React + images statiques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9806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798064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Port exposé : 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29000"/>
            <a:ext cx="54864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3429000"/>
            <a:ext cx="54864" cy="2194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🐍  Image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alexandraassaga/moto-backend:latest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2452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224528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Base : python:3.12-slim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72000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Contient : Flask, PyMongo, Flask-CORS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194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919472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Port exposé : 5000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669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266944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Démarrage : python app.py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960120"/>
            <a:ext cx="56692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960120"/>
            <a:ext cx="54864" cy="19202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1051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💾  Volumes &amp; Persistance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508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volumes: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7830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  - name: mongo-data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057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    persistentVolumeClaim: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3317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      claimName: mongo-pvc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606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# Montage : /data/db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880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# Capacité : 1Gi  · ReadWriteOnce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971800"/>
            <a:ext cx="566928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72200" y="2971800"/>
            <a:ext cx="54864" cy="26517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3063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✅  Avantages de la conteneurisation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4930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3493008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Isolation complète des dépendances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8404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3840480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Reproductibilité : même comportement Dev/Prod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18795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6832" y="4187952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Images versionées sur Docker Hub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53542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6832" y="4535424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Déploiement déclaratif via Kubernetes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88289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4882896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Mise à l'échelle simplifiée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⚙️  Choix Techniques Justifiés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24231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247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73736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16712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Isolation · Portabilité
Images reproductibles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399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399" y="960120"/>
            <a:ext cx="54864" cy="24231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1999" y="11247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☸️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1" y="173736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Kubernetes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1" y="216712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Orchestration · Self-healing
Gestion des ressources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58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58" y="960120"/>
            <a:ext cx="54864" cy="2423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58" y="11247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0" y="173736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MongoDB 7.0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0" y="216712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NoSQL flexible · Schéma
dynamique pour produits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566160"/>
            <a:ext cx="54864" cy="24231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7307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⚛️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434340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React 18 + Vite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77316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SPA moderne · Build rapide
Composants réutilisables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399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399" y="3566160"/>
            <a:ext cx="54864" cy="2423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1999" y="37307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1" y="434340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Python Flask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1" y="477316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API REST légère
Intégration PyMongo native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58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66758" y="3566160"/>
            <a:ext cx="54864" cy="2423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58" y="37307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0" y="4343400"/>
            <a:ext cx="3474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Secrets K8s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0" y="4773168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Credentials base64
Séparation config /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🐳  Démonstration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30352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2560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📦  Conteneurs en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097280" cy="292608"/>
          </a:xfrm>
          <a:prstGeom prst="rect">
            <a:avLst/>
          </a:prstGeom>
          <a:solidFill>
            <a:srgbClr val="0D18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453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Conteneur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508760"/>
            <a:ext cx="1828800" cy="292608"/>
          </a:xfrm>
          <a:prstGeom prst="rect">
            <a:avLst/>
          </a:prstGeom>
          <a:solidFill>
            <a:srgbClr val="0D18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91640" y="15453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508760"/>
            <a:ext cx="640080" cy="292608"/>
          </a:xfrm>
          <a:prstGeom prst="rect">
            <a:avLst/>
          </a:prstGeom>
          <a:solidFill>
            <a:srgbClr val="0D18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54533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508760"/>
            <a:ext cx="1371600" cy="292608"/>
          </a:xfrm>
          <a:prstGeom prst="rect">
            <a:avLst/>
          </a:prstGeom>
          <a:solidFill>
            <a:srgbClr val="0D18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5453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Rôle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8562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flask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856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moto-backend:latest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8562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5000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8562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API 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21408"/>
            <a:ext cx="4983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mongo:7.0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240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27017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Base de données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505456"/>
            <a:ext cx="4983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2624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2624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moto-frontend:latest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26243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2624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SPA + Nginx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889504"/>
            <a:ext cx="4983480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657600"/>
            <a:ext cx="53035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657600"/>
            <a:ext cx="54864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74903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🔗  Communication inter-conteneurs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251960"/>
            <a:ext cx="1097280" cy="640080"/>
          </a:xfrm>
          <a:prstGeom prst="rect">
            <a:avLst/>
          </a:prstGeom>
          <a:solidFill>
            <a:srgbClr val="050D1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3434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Nginx
:80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→  /api/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251960"/>
            <a:ext cx="1097280" cy="640080"/>
          </a:xfrm>
          <a:prstGeom prst="rect">
            <a:avLst/>
          </a:prstGeom>
          <a:solidFill>
            <a:srgbClr val="0D091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51760" y="43434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Flask
:5000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→ localhost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4251960"/>
            <a:ext cx="1097280" cy="640080"/>
          </a:xfrm>
          <a:prstGeom prst="rect">
            <a:avLst/>
          </a:prstGeom>
          <a:solidFill>
            <a:srgbClr val="01120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63440" y="43434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MongoDB
:27017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983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Flask et MongoDB partagent le même pod → communication via localhost (pas de réseau externe)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960120"/>
            <a:ext cx="5852160" cy="4800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89320" y="960120"/>
            <a:ext cx="54864" cy="480060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💻  Commandes Docker utilisées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15087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 Build image backend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17830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docker build -t alexandraassaga/moto-backend:latest ./backend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3317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 Push sur Docker Hub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2606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docker push alexandraassaga/moto-backend:latest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31546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 Build multi-stage frontend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4290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docker build -t alexandraassaga/moto-frontend:latest ./frontend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39776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 Vérifier les pods K8s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2519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kubectl get pods -n ecommerce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48006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 Logs du container Flask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0749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kubectl logs deployment/backend -c flask -n ecommerce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☸  Architecture du Cluster 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30352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246888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🖥️  Environnement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481328"/>
            <a:ext cx="4590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Cluster : Docker Desktop (single-node)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4590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Version Kubernetes : 1.34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762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76272"/>
            <a:ext cx="4590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Namespace : ecommerce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23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523744"/>
            <a:ext cx="4590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Nœud : docker-desktop  (IP 192.168.65.3)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712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871216"/>
            <a:ext cx="4590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Accès : http://localhost:30080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520440"/>
            <a:ext cx="53035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520440"/>
            <a:ext cx="54864" cy="21945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📊  Ressources allouées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41648"/>
            <a:ext cx="1280160" cy="274320"/>
          </a:xfrm>
          <a:prstGeom prst="rect">
            <a:avLst/>
          </a:prstGeom>
          <a:solidFill>
            <a:srgbClr val="1A0A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Conteneur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4041648"/>
            <a:ext cx="2103120" cy="274320"/>
          </a:xfrm>
          <a:prstGeom prst="rect">
            <a:avLst/>
          </a:prstGeom>
          <a:solidFill>
            <a:srgbClr val="1A0A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28800" y="40690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RAM (req→limit)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4041648"/>
            <a:ext cx="1645920" cy="274320"/>
          </a:xfrm>
          <a:prstGeom prst="rect">
            <a:avLst/>
          </a:prstGeom>
          <a:solidFill>
            <a:srgbClr val="1A0A3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0" y="406908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CPU (req→limit)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525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flask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3525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128Mi → 256Mi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3525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100m → 300m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00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mongodb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7000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256Mi → 512Mi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7000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200m → 500m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47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0474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64Mi → 128Mi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047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50m → 100m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960120"/>
            <a:ext cx="5852160" cy="4800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89320" y="960120"/>
            <a:ext cx="54864" cy="48006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🏗️  Objets Kubernetes déployés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508760"/>
            <a:ext cx="1737360" cy="475488"/>
          </a:xfrm>
          <a:prstGeom prst="rect">
            <a:avLst/>
          </a:prstGeom>
          <a:solidFill>
            <a:srgbClr val="050D1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44768" y="156362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1600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backend · frontend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2103120"/>
            <a:ext cx="1737360" cy="475488"/>
          </a:xfrm>
          <a:prstGeom prst="rect">
            <a:avLst/>
          </a:prstGeom>
          <a:solidFill>
            <a:srgbClr val="00121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44768" y="215798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2194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ClusterIP + NodePort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697480"/>
            <a:ext cx="1737360" cy="475488"/>
          </a:xfrm>
          <a:prstGeom prst="rect">
            <a:avLst/>
          </a:prstGeom>
          <a:solidFill>
            <a:srgbClr val="0D091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44768" y="275234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</a:rPr>
              <a:t>ConfigMap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2788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app-config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3291840"/>
            <a:ext cx="1737360" cy="475488"/>
          </a:xfrm>
          <a:prstGeom prst="rect">
            <a:avLst/>
          </a:prstGeom>
          <a:solidFill>
            <a:srgbClr val="180F0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44768" y="334670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Secret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33832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mongo-secret (base64)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886200"/>
            <a:ext cx="1737360" cy="475488"/>
          </a:xfrm>
          <a:prstGeom prst="rect">
            <a:avLst/>
          </a:prstGeom>
          <a:solidFill>
            <a:srgbClr val="01120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44768" y="394106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PersistentVolume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3977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mongo-pv · storageClass: manual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4480560"/>
            <a:ext cx="1737360" cy="475488"/>
          </a:xfrm>
          <a:prstGeom prst="rect">
            <a:avLst/>
          </a:prstGeom>
          <a:solidFill>
            <a:srgbClr val="01120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4535424"/>
            <a:ext cx="17007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PersistentVolumeClaim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4572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mongo-pvc · 1Gi · ReadWriteOnce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📄  Déploiement Kubernetes — Manifests YAML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486400" cy="4800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48006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backend-deployment.yaml  (extrait clé)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apiVersion: apps/v1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kind: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75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spec: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311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replicas: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strategy: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  type: Recreate    # crucial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992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containers: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552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</a:rPr>
              <a:t>  - name: flask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112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image: alexandraassaga/moto-backend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673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resources: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233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  limits: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793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      memory: "256Mi"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354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      cpu: "300m"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914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- name: 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474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image: mongo:7.0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035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volumeMounts: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595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    - mountPath: /data/db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960120"/>
            <a:ext cx="58521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89320" y="960120"/>
            <a:ext cx="54864" cy="1691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1051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secret.yaml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41732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kind: Secret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66420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type: Opaque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91109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data: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157984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MONGO_USERNAME: bW9uZ291c2Vy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40487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  MONGO_PASSWORD: TW9uZ29QYXNz...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788920"/>
            <a:ext cx="58521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89320" y="2788920"/>
            <a:ext cx="54864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2880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mongo-pvc.yaml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24612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kind: PersistentVolumeClaim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49300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spec: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73989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accessModes: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986784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- ReadWriteOnce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23367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resources: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48056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    requests: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72744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    storage: 1Gi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4617720"/>
            <a:ext cx="5852160" cy="1143000"/>
          </a:xfrm>
          <a:prstGeom prst="rect">
            <a:avLst/>
          </a:prstGeom>
          <a:solidFill>
            <a:srgbClr val="1A120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0" y="4681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⚠️  Pourquoi strategy: Recreate 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0292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Flask et MongoDB partagent un PVC ReadWriteOnce.
Avec RollingUpdate, 2 pods montent le même volume → conflit mongod.lock.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🔌  Pods &amp; Services 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303520" cy="1371600"/>
          </a:xfrm>
          <a:prstGeom prst="rect">
            <a:avLst/>
          </a:prstGeom>
          <a:solidFill>
            <a:srgbClr val="051025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POD —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98448"/>
            <a:ext cx="4572000" cy="822960"/>
          </a:xfrm>
          <a:prstGeom prst="rect">
            <a:avLst/>
          </a:prstGeom>
          <a:solidFill>
            <a:srgbClr val="081835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🌐  nginx:alpine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80  ·  SPA React statique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14600"/>
            <a:ext cx="5303520" cy="1920240"/>
          </a:xfrm>
          <a:prstGeom prst="rect">
            <a:avLst/>
          </a:prstGeom>
          <a:solidFill>
            <a:srgbClr val="08181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POD — backend  (2 conteneurs — même pod)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2103120" cy="1371600"/>
          </a:xfrm>
          <a:prstGeom prst="rect">
            <a:avLst/>
          </a:prstGeom>
          <a:solidFill>
            <a:srgbClr val="0B0713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</a:rPr>
              <a:t>🐍  Flask
API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5000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880360"/>
            <a:ext cx="2103120" cy="1371600"/>
          </a:xfrm>
          <a:prstGeom prst="rect">
            <a:avLst/>
          </a:prstGeom>
          <a:solidFill>
            <a:srgbClr val="010E0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299923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🍃  MongoDB
Base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27017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2918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⟺  localhost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526280"/>
            <a:ext cx="53035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4526280"/>
            <a:ext cx="54864" cy="12801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🔗  Services exposés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29200"/>
            <a:ext cx="2286000" cy="594360"/>
          </a:xfrm>
          <a:prstGeom prst="rect">
            <a:avLst/>
          </a:prstGeom>
          <a:solidFill>
            <a:srgbClr val="1014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5074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frontend-service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321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NodePort  ·  30080 → 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5029200"/>
            <a:ext cx="2286000" cy="594360"/>
          </a:xfrm>
          <a:prstGeom prst="rect">
            <a:avLst/>
          </a:prstGeom>
          <a:solidFill>
            <a:srgbClr val="10142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44952" y="5074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backend-service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4952" y="5321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ClusterIP  ·  5000 → 5000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960120"/>
            <a:ext cx="5852160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89320" y="960120"/>
            <a:ext cx="54864" cy="484632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📡  Découverte de services &amp; Communication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150876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Nginx proxifie /api/ vers backend-service:5000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1856232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Flask accède à MongoDB via localhost:27017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2203704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(même pod = réseau partagé, pas de latence réseau)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2551176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DNS K8s interne : backend-service.ecommerce.svc.cluster.local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89864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2898648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Accès externe navigateur : http://localhost:30080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24612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324612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readinessProbe Flask : GET /api/health (delay 30s)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977639"/>
            <a:ext cx="5577840" cy="1691640"/>
          </a:xfrm>
          <a:prstGeom prst="rect">
            <a:avLst/>
          </a:prstGeom>
          <a:solidFill>
            <a:srgbClr val="08102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09360" y="4160520"/>
            <a:ext cx="960120" cy="731520"/>
          </a:xfrm>
          <a:prstGeom prst="rect">
            <a:avLst/>
          </a:prstGeom>
          <a:solidFill>
            <a:srgbClr val="0B0D0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0" y="422452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Navigateur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18120" y="4160520"/>
            <a:ext cx="960120" cy="731520"/>
          </a:xfrm>
          <a:prstGeom prst="rect">
            <a:avLst/>
          </a:prstGeom>
          <a:solidFill>
            <a:srgbClr val="130C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18120" y="422452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NodePort
30080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4160520"/>
            <a:ext cx="960120" cy="731520"/>
          </a:xfrm>
          <a:prstGeom prst="rect">
            <a:avLst/>
          </a:prstGeom>
          <a:solidFill>
            <a:srgbClr val="040A1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26880" y="422452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</a:rPr>
              <a:t>Nginx
:80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→ /api/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35640" y="4160520"/>
            <a:ext cx="960120" cy="731520"/>
          </a:xfrm>
          <a:prstGeom prst="rect">
            <a:avLst/>
          </a:prstGeom>
          <a:solidFill>
            <a:srgbClr val="0B0713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835640" y="422452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</a:rPr>
              <a:t>Flask
:5000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41480" y="42976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344400" y="4160520"/>
            <a:ext cx="960120" cy="731520"/>
          </a:xfrm>
          <a:prstGeom prst="rect">
            <a:avLst/>
          </a:prstGeom>
          <a:solidFill>
            <a:srgbClr val="010E0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344400" y="422452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MongoDB
:27017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▶  Démonstration Fonctionnelle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438912" cy="6858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6984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960120"/>
            <a:ext cx="5303520" cy="685800"/>
          </a:xfrm>
          <a:prstGeom prst="rect">
            <a:avLst/>
          </a:prstGeom>
          <a:solidFill>
            <a:srgbClr val="040A1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00584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Accès au catalogue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075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http://localhost:30080 — 12 motos avec filtres
Naked · Sport · Trail · Cruiser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438912" cy="685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5303520" cy="685800"/>
          </a:xfrm>
          <a:prstGeom prst="rect">
            <a:avLst/>
          </a:prstGeom>
          <a:solidFill>
            <a:srgbClr val="000E1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1874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Fiche produit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762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Clic sur une moto → modal :
moteur, puissance, poids, vitesse max, prix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97480"/>
            <a:ext cx="438912" cy="68580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80720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697480"/>
            <a:ext cx="5303520" cy="685800"/>
          </a:xfrm>
          <a:prstGeom prst="rect">
            <a:avLst/>
          </a:prstGeom>
          <a:solidFill>
            <a:srgbClr val="0B0713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274320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Panier &amp; commande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449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Ajout au panier → sidebar → formulaire client
POST /api/orders → toast de confirmation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66160"/>
            <a:ext cx="438912" cy="685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367588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566160"/>
            <a:ext cx="5303520" cy="685800"/>
          </a:xfrm>
          <a:prstGeom prst="rect">
            <a:avLst/>
          </a:prstGeom>
          <a:solidFill>
            <a:srgbClr val="130C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61188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Page Contact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9136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Formulaire (Nom/Email/Sujet/Message)
POST /api/contact → sauvegarde MongoDB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434840"/>
            <a:ext cx="438912" cy="685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454456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434840"/>
            <a:ext cx="5303520" cy="685800"/>
          </a:xfrm>
          <a:prstGeom prst="rect">
            <a:avLst/>
          </a:prstGeom>
          <a:solidFill>
            <a:srgbClr val="010E0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448056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Dashboard Admin  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Stats CA · Gestion statuts commandes
Historique complet par client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960120"/>
            <a:ext cx="54864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5080" y="960120"/>
            <a:ext cx="54864" cy="30175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1051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📡  Routes API Flask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508760"/>
            <a:ext cx="658368" cy="310896"/>
          </a:xfrm>
          <a:prstGeom prst="rect">
            <a:avLst/>
          </a:prstGeom>
          <a:solidFill>
            <a:srgbClr val="01120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154533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15453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/api/products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15453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Catalogue motos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1874520"/>
            <a:ext cx="658368" cy="310896"/>
          </a:xfrm>
          <a:prstGeom prst="rect">
            <a:avLst/>
          </a:prstGeom>
          <a:solidFill>
            <a:srgbClr val="01120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191109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19110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/api/products/:id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19110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Fiche produit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240280"/>
            <a:ext cx="658368" cy="310896"/>
          </a:xfrm>
          <a:prstGeom prst="rect">
            <a:avLst/>
          </a:prstGeom>
          <a:solidFill>
            <a:srgbClr val="050D1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227685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</a:rPr>
              <a:t>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22768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/api/orders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22768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Créer commande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606040"/>
            <a:ext cx="658368" cy="310896"/>
          </a:xfrm>
          <a:prstGeom prst="rect">
            <a:avLst/>
          </a:prstGeom>
          <a:solidFill>
            <a:srgbClr val="01120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264261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26426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/api/orders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26426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Admin : liste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2971800"/>
            <a:ext cx="658368" cy="310896"/>
          </a:xfrm>
          <a:prstGeom prst="rect">
            <a:avLst/>
          </a:prstGeom>
          <a:solidFill>
            <a:srgbClr val="180F0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300837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PATCH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30083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/api/orders/:id/status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30083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Changer statut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337560"/>
            <a:ext cx="658368" cy="310896"/>
          </a:xfrm>
          <a:prstGeom prst="rect">
            <a:avLst/>
          </a:prstGeom>
          <a:solidFill>
            <a:srgbClr val="050D1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37413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</a:rPr>
              <a:t>POST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33741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/api/contact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33741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Message contact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3703320"/>
            <a:ext cx="658368" cy="310896"/>
          </a:xfrm>
          <a:prstGeom prst="rect">
            <a:avLst/>
          </a:prstGeom>
          <a:solidFill>
            <a:srgbClr val="01120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92240" y="373989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37398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/api/health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37398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Health check K8s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4069080"/>
            <a:ext cx="54864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55080" y="4069080"/>
            <a:ext cx="54864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83680" y="4160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 Test de persistance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5720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9712" y="4572000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Suppression du pod backend → recréé automatiquement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49194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9712" y="4919472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Données MongoDB conservées grâce au PVC (1Gi)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52669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39712" y="5266944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Flask re-seed si collection vide (12 produits)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⚠  Difficultés Rencontrées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669280" cy="1600200"/>
          </a:xfrm>
          <a:prstGeom prst="rect">
            <a:avLst/>
          </a:prstGeom>
          <a:solidFill>
            <a:srgbClr val="130505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🔒  Conflit mongod.lock (CrashLoopBackOff)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RollingUpdate crée un nouveau pod avant de supprimer l'ancien → 2 pods montent le même PVC → verrou bloqué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960120"/>
            <a:ext cx="5669280" cy="1600200"/>
          </a:xfrm>
          <a:prstGeom prst="rect">
            <a:avLst/>
          </a:prstGeom>
          <a:solidFill>
            <a:srgbClr val="130C0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💥  OOM Kill — exit code 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Lancer mongosh dans le conteneur MongoDB (512Mi) en plus de mongod dépasse la limite mémoire → SIGKILL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669280" cy="1600200"/>
          </a:xfrm>
          <a:prstGeom prst="rect">
            <a:avLst/>
          </a:prstGeom>
          <a:solidFill>
            <a:srgbClr val="130C0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👤  User MongoDB inexistant (UserNotFound)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MONGO_INITDB_* ne fonctionne que sur un volume VIDE. rm -rf /data/db/* ne supprime pas les fichiers cachés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51760"/>
            <a:ext cx="5669280" cy="1600200"/>
          </a:xfrm>
          <a:prstGeom prst="rect">
            <a:avLst/>
          </a:prstGeom>
          <a:solidFill>
            <a:srgbClr val="000E10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🖼️  Images motos invisibles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546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Noms de fichiers avec majuscules/espaces (Windows) — Linux est sensible à la casse → Nginx retourne 404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43400"/>
            <a:ext cx="5669280" cy="1600200"/>
          </a:xfrm>
          <a:prstGeom prst="rect">
            <a:avLst/>
          </a:prstGeom>
          <a:solidFill>
            <a:srgbClr val="0B0713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🔗  Hook git installé au mauvais endroit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Racine git à C:\Users\alexa\ (parent de k8s-demo) → hook créé dans un .git\ inexistant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343400"/>
            <a:ext cx="5669280" cy="1600200"/>
          </a:xfrm>
          <a:prstGeom prst="rect">
            <a:avLst/>
          </a:prstGeom>
          <a:solidFill>
            <a:srgbClr val="040A13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⏱️  Race condition Flask / 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Flask tente la connexion avant que MongoDB soit prêt → boucle d'erreurs d'authentification (30 tentatives)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✅  Solutions Apportées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669280" cy="1600200"/>
          </a:xfrm>
          <a:prstGeom prst="rect">
            <a:avLst/>
          </a:prstGeom>
          <a:solidFill>
            <a:srgbClr val="000B0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 strategy: Recreate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Ajouté dans le Deployment backend → ancien pod supprimé AVANT le nouveau → PVC libéré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960120"/>
            <a:ext cx="5669280" cy="1600200"/>
          </a:xfrm>
          <a:prstGeom prst="rect">
            <a:avLst/>
          </a:prstGeom>
          <a:solidFill>
            <a:srgbClr val="000B0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0515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 Bypass via container Flask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python3 -c avec PyMongo déjà chargé au lieu de mongosh → 0 mémoire supplémentaire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669280" cy="1600200"/>
          </a:xfrm>
          <a:prstGeom prst="rect">
            <a:avLst/>
          </a:prstGeom>
          <a:solidFill>
            <a:srgbClr val="000A0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✅  Création manuelle du user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Pod temporaire mongod --noauth + getSiblingDB('admin').createUser() (--eval incompatible avec use admin)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51760"/>
            <a:ext cx="5669280" cy="1600200"/>
          </a:xfrm>
          <a:prstGeom prst="rect">
            <a:avLst/>
          </a:prstGeom>
          <a:solidFill>
            <a:srgbClr val="000A0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✅  Convention kebab-case minuscules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546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Renommage des images (bmw-r1250gs.jpg) + rebuild Docker frontend pour inclure les nouveaux noms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43400"/>
            <a:ext cx="5669280" cy="1600200"/>
          </a:xfrm>
          <a:prstGeom prst="rect">
            <a:avLst/>
          </a:prstGeom>
          <a:solidFill>
            <a:srgbClr val="08050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✅  git rev-parse --show-toplevel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Détection automatique de la vraie racine git dans install-hook.ps1 → hook installé au bon endroit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343400"/>
            <a:ext cx="5669280" cy="1600200"/>
          </a:xfrm>
          <a:prstGeom prst="rect">
            <a:avLst/>
          </a:prstGeom>
          <a:solidFill>
            <a:srgbClr val="0E090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✅  find -mindepth 1 -delete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Supprime TOUS les fichiers y compris les cachés → MONGO_INITDB_* peut s'exécuter sur volume vide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📊  Bilan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42062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051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🎯  Objectifs atteints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361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53619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Application e-commerce fonctionnelle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8366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188366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2/2 pods Running en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311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23113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Persistance MongoDB validée (PVC)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5786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57860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CI/CD via hook git automatisé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9260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92608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Pages Contact &amp; Admin opérationnelles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27355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327355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Code versioné sur GitHub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960120"/>
            <a:ext cx="3749039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960120"/>
            <a:ext cx="54864" cy="42062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1051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📚  Compétences acquises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15361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3619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Conteneurisation Docker avancée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188366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8304" y="188366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Orchestration Kubernetes (9 manifests)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22311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223113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Gestion Secrets / ConfigMaps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25786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8304" y="257860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Débogage de pods en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29260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8304" y="292608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Scripting PowerShell &amp; bash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327355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8304" y="327355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Pipeline CI/CD local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960120"/>
            <a:ext cx="3749039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75320" y="960120"/>
            <a:ext cx="54864" cy="420624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39912" y="1051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💡  Valeur ajoutée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2" y="153619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95944" y="1536192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Architecture microservices réelle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9912" y="188366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1883664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Pattern sidecar Flask + MongoDB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223113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95944" y="2231136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Workflow DevOps de bout en bout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9912" y="2578608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95944" y="257860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Documentation README exhaustive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9912" y="292608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95944" y="292608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Présentation HTML + PowerPoint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285232"/>
            <a:ext cx="2816352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5330952"/>
            <a:ext cx="2816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5870448"/>
            <a:ext cx="2816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PODS RUNNING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73552" y="5285232"/>
            <a:ext cx="2816352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273552" y="5330952"/>
            <a:ext cx="2816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73552" y="5870448"/>
            <a:ext cx="2816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MANIFESTS YAML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27064" y="5285232"/>
            <a:ext cx="2816352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27064" y="5330952"/>
            <a:ext cx="2816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27064" y="5870448"/>
            <a:ext cx="2816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ROUTES API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80576" y="5285232"/>
            <a:ext cx="2816352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80576" y="5330952"/>
            <a:ext cx="28163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8B5CF6"/>
                </a:solidFill>
              </a:rPr>
              <a:t>Auto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5870448"/>
            <a:ext cx="2816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CI/CD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3657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</a:rPr>
              <a:t>🚀  Perspectives d'Amélioration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4864" cy="24231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05156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🔄  CI/CD avancé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50876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Runner GitHub Actions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185623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Tests Pytest / Jest automatisés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20370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Analyse SonarQube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55117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Versionning sémantique des images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399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43399" y="960120"/>
            <a:ext cx="54864" cy="2423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7991" y="105156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📊 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1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3" y="150876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Prometheus + 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1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4023" y="185623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Alerting sur les pods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1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4023" y="220370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Métriques 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1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3" y="255117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Logs centralisés (ELK Stack)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58" y="96012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66758" y="960120"/>
            <a:ext cx="54864" cy="24231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31350" y="105156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📈  Scalabilité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0" y="150876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7382" y="150876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Horizontal Pod Autoscaler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1350" y="185623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2" y="185623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MongoDB ReplicaSet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0" y="220370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7382" y="220370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Cluster multi-nœuds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0" y="255117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7382" y="255117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Ingress Nginx (Load Balancer)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3566160"/>
            <a:ext cx="54864" cy="24231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365760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300" b="1" i="0" dirty="0">
                <a:solidFill>
                  <a:srgbClr val="EF4444"/>
                </a:solidFill>
              </a:rPr>
              <a:t>🔐</a:t>
            </a:r>
            <a:r>
              <a:rPr sz="1300" b="1" i="0" dirty="0">
                <a:solidFill>
                  <a:srgbClr val="EF4444"/>
                </a:solidFill>
              </a:rPr>
              <a:t>  Sécurité </a:t>
            </a:r>
            <a:r>
              <a:rPr sz="1300" b="1" i="0" dirty="0" err="1">
                <a:solidFill>
                  <a:srgbClr val="EF4444"/>
                </a:solidFill>
              </a:rPr>
              <a:t>renforcée</a:t>
            </a:r>
            <a:endParaRPr sz="1300" b="1" i="0" dirty="0">
              <a:solidFill>
                <a:srgbClr val="EF4444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4632" y="41148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" y="411480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HTTPS / TLS (cert-manager)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44622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" y="446227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Authentification JWT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4809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" y="480974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Network Policies K8s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" y="51572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515721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HashiCorp Vault pour secrets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43399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343399" y="3566160"/>
            <a:ext cx="54864" cy="24231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07991" y="365760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☁️  Déploiement Cloud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07991" y="41148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64023" y="411480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GKE / EKS / AKS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07991" y="44622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4023" y="446227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Infrastructure as Code (Terraform)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07991" y="4809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4023" y="480974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CDN pour assets statiques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07991" y="51572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4023" y="515721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Backup MongoDB automatisé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66758" y="3566160"/>
            <a:ext cx="3749039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366758" y="3566160"/>
            <a:ext cx="54864" cy="2423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31350" y="365760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🛠️  Fonctionnalités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31350" y="4114800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87382" y="4114800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Authentification utilisateurs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31350" y="446227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87382" y="4462272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Paiement Stripe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31350" y="4809744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87382" y="4809744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Notifications email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31350" y="5157216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87382" y="5157216"/>
            <a:ext cx="321868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Application mobile React Native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D1B35"/>
          </a:solidFill>
          <a:ln>
            <a:solidFill>
              <a:srgbClr val="0D1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0" y="182880"/>
            <a:ext cx="5760720" cy="5486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0" y="50292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1F5F9"/>
                </a:solidFill>
              </a:rPr>
              <a:t>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002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1F5F9"/>
                </a:solidFill>
              </a:rPr>
              <a:t>Merci pour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Projet DevOps  —  MotoShop E-Commerce Kubernetes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926080"/>
            <a:ext cx="1371600" cy="292608"/>
          </a:xfrm>
          <a:prstGeom prst="rect">
            <a:avLst/>
          </a:prstGeom>
          <a:solidFill>
            <a:srgbClr val="0B1A3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2962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🐳 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8768" y="2926080"/>
            <a:ext cx="1371600" cy="292608"/>
          </a:xfrm>
          <a:prstGeom prst="rect">
            <a:avLst/>
          </a:prstGeom>
          <a:solidFill>
            <a:srgbClr val="0124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58768" y="2962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☸  Kubernetes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0096" y="2926080"/>
            <a:ext cx="1371600" cy="292608"/>
          </a:xfrm>
          <a:prstGeom prst="rect">
            <a:avLst/>
          </a:prstGeom>
          <a:solidFill>
            <a:srgbClr val="1B12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0096" y="2962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⚛  React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21424" y="2926080"/>
            <a:ext cx="1371600" cy="292608"/>
          </a:xfrm>
          <a:prstGeom prst="rect">
            <a:avLst/>
          </a:prstGeom>
          <a:solidFill>
            <a:srgbClr val="0325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21424" y="2962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🐍  Flask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2752" y="2926080"/>
            <a:ext cx="1371600" cy="292608"/>
          </a:xfrm>
          <a:prstGeom prst="rect">
            <a:avLst/>
          </a:prstGeom>
          <a:solidFill>
            <a:srgbClr val="311F0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2962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🍃  MongoDB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703320"/>
            <a:ext cx="66751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0" y="3703320"/>
            <a:ext cx="54864" cy="15087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17520" y="379476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</a:rPr>
              <a:t>📎  Ressources du projet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206240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1F5F9"/>
                </a:solidFill>
              </a:rPr>
              <a:t>🐙  github.com/aassaga21/MotoShop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07992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🐳  hub.docker.com/u/alexandraassaga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5349240"/>
            <a:ext cx="5760720" cy="822960"/>
          </a:xfrm>
          <a:prstGeom prst="rect">
            <a:avLst/>
          </a:prstGeom>
          <a:solidFill>
            <a:srgbClr val="08152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545896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F5F9"/>
                </a:solidFill>
              </a:rPr>
              <a:t>❓  Questions du jury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6656832"/>
            <a:ext cx="5760720" cy="5486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643055" y="65379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1945</Words>
  <Application>Microsoft Office PowerPoint</Application>
  <PresentationFormat>Grand écran</PresentationFormat>
  <Paragraphs>505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Alexandra Assaga</cp:lastModifiedBy>
  <cp:revision>2</cp:revision>
  <dcterms:created xsi:type="dcterms:W3CDTF">2013-01-27T09:14:16Z</dcterms:created>
  <dcterms:modified xsi:type="dcterms:W3CDTF">2026-06-03T22:27:11Z</dcterms:modified>
  <cp:category/>
</cp:coreProperties>
</file>